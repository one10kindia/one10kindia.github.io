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DC23"/>
          </a:solidFill>
          <a:ln>
            <a:solidFill>
              <a:srgbClr val="A0D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e10k_logo_crop_6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21792"/>
            <a:ext cx="7673302" cy="3127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837831"/>
            <a:ext cx="3459410" cy="779679"/>
          </a:xfrm>
          <a:prstGeom prst="roundRect">
            <a:avLst/>
          </a:prstGeom>
          <a:solidFill>
            <a:srgbClr val="A0DC23"/>
          </a:solidFill>
          <a:ln>
            <a:solidFill>
              <a:srgbClr val="A0D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5029" y="4061906"/>
            <a:ext cx="345941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0" dirty="0">
                <a:solidFill>
                  <a:srgbClr val="080E16"/>
                </a:solidFill>
                <a:latin typeface="+mj-lt"/>
              </a:rPr>
              <a:t>SPONSOR PARTNERSHIP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038" y="4747708"/>
            <a:ext cx="176978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i="0" dirty="0">
                <a:solidFill>
                  <a:srgbClr val="F8FAF8"/>
                </a:solidFill>
                <a:latin typeface="+mj-lt"/>
              </a:rPr>
              <a:t>7 MARCH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937" y="5246149"/>
            <a:ext cx="3064044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NICE Road • </a:t>
            </a:r>
            <a:r>
              <a:rPr sz="1500" b="0" i="0" dirty="0" err="1">
                <a:solidFill>
                  <a:srgbClr val="ABB5BE"/>
                </a:solidFill>
                <a:latin typeface="+mj-lt"/>
              </a:rPr>
              <a:t>Nayandahalli</a:t>
            </a:r>
            <a:r>
              <a:rPr sz="1500" b="0" i="0" dirty="0">
                <a:solidFill>
                  <a:srgbClr val="ABB5BE"/>
                </a:solidFill>
                <a:latin typeface="+mj-lt"/>
              </a:rPr>
              <a:t>, Bengaluru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570" y="5753837"/>
            <a:ext cx="534434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 dirty="0">
                <a:solidFill>
                  <a:srgbClr val="A0DC23"/>
                </a:solidFill>
                <a:latin typeface="+mj-lt"/>
              </a:rPr>
              <a:t>10,000 RUNNERS  •  10 KM  •  ONE STRAIGHT COURSE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 flipV="1">
            <a:off x="9964768" y="2040378"/>
            <a:ext cx="9644" cy="3205771"/>
          </a:xfrm>
          <a:prstGeom prst="line">
            <a:avLst/>
          </a:prstGeom>
          <a:ln w="25400">
            <a:solidFill>
              <a:srgbClr val="A0DC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974412" y="4828031"/>
            <a:ext cx="0" cy="292609"/>
          </a:xfrm>
          <a:prstGeom prst="line">
            <a:avLst/>
          </a:prstGeom>
          <a:ln w="508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974412" y="4096511"/>
            <a:ext cx="0" cy="292609"/>
          </a:xfrm>
          <a:prstGeom prst="line">
            <a:avLst/>
          </a:prstGeom>
          <a:ln w="508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974412" y="3364992"/>
            <a:ext cx="0" cy="292608"/>
          </a:xfrm>
          <a:prstGeom prst="line">
            <a:avLst/>
          </a:prstGeom>
          <a:ln w="508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4412" y="2633472"/>
            <a:ext cx="0" cy="292608"/>
          </a:xfrm>
          <a:prstGeom prst="line">
            <a:avLst/>
          </a:prstGeom>
          <a:ln w="508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90879" y="660002"/>
            <a:ext cx="2212785" cy="115416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 i="0" dirty="0">
                <a:solidFill>
                  <a:srgbClr val="F8FAF8"/>
                </a:solidFill>
                <a:latin typeface="+mj-lt"/>
              </a:rPr>
              <a:t>ONE DISTANCE.
ONE DIRECTION.
ONE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5911" y="5315879"/>
            <a:ext cx="2830390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i="0" dirty="0">
                <a:solidFill>
                  <a:srgbClr val="ABB5BE"/>
                </a:solidFill>
                <a:latin typeface="+mj-lt"/>
              </a:rPr>
              <a:t>Built by </a:t>
            </a:r>
            <a:r>
              <a:rPr lang="en-IN" sz="2000" b="1" i="0" dirty="0">
                <a:solidFill>
                  <a:srgbClr val="ABB5BE"/>
                </a:solidFill>
                <a:latin typeface="+mj-lt"/>
              </a:rPr>
              <a:t>the R</a:t>
            </a:r>
            <a:r>
              <a:rPr sz="2000" b="1" i="0" dirty="0" err="1">
                <a:solidFill>
                  <a:srgbClr val="ABB5BE"/>
                </a:solidFill>
                <a:latin typeface="+mj-lt"/>
              </a:rPr>
              <a:t>unners</a:t>
            </a:r>
            <a:r>
              <a:rPr sz="2000" b="1" i="0" dirty="0">
                <a:solidFill>
                  <a:srgbClr val="ABB5BE"/>
                </a:solidFill>
                <a:latin typeface="+mj-lt"/>
              </a:rPr>
              <a:t>.
Designed for the </a:t>
            </a:r>
            <a:r>
              <a:rPr lang="en-IN" sz="2000" b="1" i="0" dirty="0">
                <a:solidFill>
                  <a:srgbClr val="ABB5BE"/>
                </a:solidFill>
                <a:latin typeface="+mj-lt"/>
              </a:rPr>
              <a:t>R</a:t>
            </a:r>
            <a:r>
              <a:rPr sz="2000" b="1" i="0" dirty="0" err="1">
                <a:solidFill>
                  <a:srgbClr val="ABB5BE"/>
                </a:solidFill>
                <a:latin typeface="+mj-lt"/>
              </a:rPr>
              <a:t>unner</a:t>
            </a:r>
            <a:r>
              <a:rPr sz="2000" b="1" i="0" dirty="0">
                <a:solidFill>
                  <a:srgbClr val="ABB5BE"/>
                </a:solidFill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0072"/>
            <a:ext cx="1095172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 i="0" dirty="0">
                <a:solidFill>
                  <a:srgbClr val="A0DC23"/>
                </a:solidFill>
                <a:latin typeface="+mj-lt"/>
              </a:rPr>
              <a:t>02  • 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4492"/>
            <a:ext cx="3726924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F8FAF8"/>
                </a:solidFill>
                <a:latin typeface="+mj-lt"/>
              </a:rPr>
              <a:t>A pure 10K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2436"/>
            <a:ext cx="745556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No parallel categories. No route compromises. Every decision is made around the 10K runner.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3281"/>
            <a:ext cx="1261884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>
                <a:solidFill>
                  <a:srgbClr val="A0DC23"/>
                </a:solidFill>
                <a:latin typeface="+mj-lt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90761"/>
            <a:ext cx="1569725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Expected runners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963281"/>
            <a:ext cx="1208985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 dirty="0">
                <a:solidFill>
                  <a:srgbClr val="F5871E"/>
                </a:solidFill>
                <a:latin typeface="+mj-lt"/>
              </a:rPr>
              <a:t>10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590761"/>
            <a:ext cx="1664879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Only race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1963281"/>
            <a:ext cx="144783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>
                <a:solidFill>
                  <a:srgbClr val="A0DC23"/>
                </a:solidFill>
                <a:latin typeface="+mj-lt"/>
              </a:rPr>
              <a:t>07 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590761"/>
            <a:ext cx="1467966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2027 event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1963281"/>
            <a:ext cx="207140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>
                <a:solidFill>
                  <a:srgbClr val="48AA4B"/>
                </a:solidFill>
                <a:latin typeface="+mj-lt"/>
              </a:rPr>
              <a:t>END →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5944" y="2590761"/>
            <a:ext cx="1010020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NICE Road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30113" y="3547864"/>
            <a:ext cx="914400" cy="310896"/>
          </a:xfrm>
          <a:prstGeom prst="roundRect">
            <a:avLst/>
          </a:prstGeom>
          <a:solidFill>
            <a:srgbClr val="34404C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43308" y="3532586"/>
            <a:ext cx="688009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dirty="0">
                <a:solidFill>
                  <a:srgbClr val="A0DC23"/>
                </a:solidFill>
                <a:latin typeface="+mj-lt"/>
              </a:rPr>
              <a:t>NO</a:t>
            </a:r>
            <a:r>
              <a:rPr sz="1500" b="1" i="0" dirty="0">
                <a:solidFill>
                  <a:srgbClr val="F8FAF8"/>
                </a:solidFill>
                <a:latin typeface="+mj-lt"/>
              </a:rPr>
              <a:t> </a:t>
            </a:r>
            <a:r>
              <a:rPr sz="1500" b="1" dirty="0">
                <a:solidFill>
                  <a:srgbClr val="A0DC23"/>
                </a:solidFill>
                <a:latin typeface="+mj-lt"/>
              </a:rPr>
              <a:t>5K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7390" y="3537237"/>
            <a:ext cx="914400" cy="310896"/>
          </a:xfrm>
          <a:prstGeom prst="roundRect">
            <a:avLst/>
          </a:prstGeom>
          <a:solidFill>
            <a:srgbClr val="34404C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20585" y="3521959"/>
            <a:ext cx="688009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>
                <a:solidFill>
                  <a:srgbClr val="F8FAF8"/>
                </a:solidFill>
                <a:latin typeface="+mj-lt"/>
              </a:rPr>
              <a:t>NO 3K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12542" y="3526616"/>
            <a:ext cx="1417320" cy="310896"/>
          </a:xfrm>
          <a:prstGeom prst="roundRect">
            <a:avLst/>
          </a:prstGeom>
          <a:solidFill>
            <a:srgbClr val="34404C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07092" y="3511338"/>
            <a:ext cx="1228220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dirty="0">
                <a:solidFill>
                  <a:srgbClr val="A0DC23"/>
                </a:solidFill>
                <a:latin typeface="+mj-lt"/>
              </a:rPr>
              <a:t>NO</a:t>
            </a:r>
            <a:r>
              <a:rPr sz="1500" b="1" i="0" dirty="0">
                <a:solidFill>
                  <a:srgbClr val="F8FAF8"/>
                </a:solidFill>
                <a:latin typeface="+mj-lt"/>
              </a:rPr>
              <a:t> </a:t>
            </a:r>
            <a:r>
              <a:rPr sz="1500" b="1" dirty="0">
                <a:solidFill>
                  <a:srgbClr val="A0DC23"/>
                </a:solidFill>
                <a:latin typeface="+mj-lt"/>
              </a:rPr>
              <a:t>FUN</a:t>
            </a:r>
            <a:r>
              <a:rPr sz="1500" b="1" i="0" dirty="0">
                <a:solidFill>
                  <a:srgbClr val="F8FAF8"/>
                </a:solidFill>
                <a:latin typeface="+mj-lt"/>
              </a:rPr>
              <a:t> </a:t>
            </a:r>
            <a:r>
              <a:rPr sz="1500" b="1" dirty="0">
                <a:solidFill>
                  <a:srgbClr val="A0DC23"/>
                </a:solidFill>
                <a:latin typeface="+mj-lt"/>
              </a:rPr>
              <a:t>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876" y="5261662"/>
            <a:ext cx="9169445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 dirty="0">
                <a:solidFill>
                  <a:srgbClr val="F8FAF8"/>
                </a:solidFill>
                <a:latin typeface="+mj-lt"/>
              </a:rPr>
              <a:t>One event. One proposition. A more focused,</a:t>
            </a:r>
            <a:r>
              <a:rPr lang="en-IN" sz="2000" b="1" i="0" dirty="0">
                <a:solidFill>
                  <a:srgbClr val="F8FAF8"/>
                </a:solidFill>
                <a:latin typeface="+mj-lt"/>
              </a:rPr>
              <a:t> </a:t>
            </a:r>
            <a:r>
              <a:rPr sz="2000" b="1" i="0" dirty="0">
                <a:solidFill>
                  <a:srgbClr val="F8FAF8"/>
                </a:solidFill>
                <a:latin typeface="+mj-lt"/>
              </a:rPr>
              <a:t>premium race-day experience.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" y="6428232"/>
            <a:ext cx="10945368" cy="0"/>
          </a:xfrm>
          <a:prstGeom prst="line">
            <a:avLst/>
          </a:prstGeom>
          <a:ln w="12700">
            <a:solidFill>
              <a:srgbClr val="344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6485102"/>
            <a:ext cx="1861407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 i="0">
                <a:solidFill>
                  <a:srgbClr val="ABB5BE"/>
                </a:solidFill>
                <a:latin typeface="+mj-lt"/>
              </a:rPr>
              <a:t>ONE10K BENGALURU  •  7 MARCH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9902" y="6485102"/>
            <a:ext cx="287258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 i="0">
                <a:solidFill>
                  <a:srgbClr val="ABB5BE"/>
                </a:solidFill>
                <a:latin typeface="+mj-lt"/>
              </a:rPr>
              <a:t>02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103B52-D991-7096-446D-DB276FA97BF6}"/>
              </a:ext>
            </a:extLst>
          </p:cNvPr>
          <p:cNvSpPr txBox="1"/>
          <p:nvPr/>
        </p:nvSpPr>
        <p:spPr>
          <a:xfrm>
            <a:off x="650713" y="4515786"/>
            <a:ext cx="468363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F8FAF8"/>
                </a:solidFill>
                <a:latin typeface="+mj-lt"/>
              </a:rPr>
              <a:t>One race. No distractions.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9294C8-5C73-F9DE-4CD0-AA748282FB52}"/>
              </a:ext>
            </a:extLst>
          </p:cNvPr>
          <p:cNvSpPr txBox="1"/>
          <p:nvPr/>
        </p:nvSpPr>
        <p:spPr>
          <a:xfrm>
            <a:off x="676446" y="5914521"/>
            <a:ext cx="7306103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i="0" dirty="0">
                <a:solidFill>
                  <a:srgbClr val="AEB8BF"/>
                </a:solidFill>
                <a:latin typeface="+mj-lt"/>
              </a:rPr>
              <a:t>We are deliberately creating a pure 10K experience — one distance, one direction, one run.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AB3F48-3433-92E5-B2DE-BACC132FF52A}"/>
              </a:ext>
            </a:extLst>
          </p:cNvPr>
          <p:cNvSpPr txBox="1"/>
          <p:nvPr/>
        </p:nvSpPr>
        <p:spPr>
          <a:xfrm>
            <a:off x="658368" y="3215855"/>
            <a:ext cx="3909019" cy="61555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 i="0">
                <a:solidFill>
                  <a:srgbClr val="F8FAF8"/>
                </a:solidFill>
                <a:latin typeface="+mj-lt"/>
              </a:rPr>
              <a:t>ONE STRAIGHT LINE.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96F2A7-9A02-61CF-B05E-1E6CBD1A534D}"/>
              </a:ext>
            </a:extLst>
          </p:cNvPr>
          <p:cNvSpPr txBox="1"/>
          <p:nvPr/>
        </p:nvSpPr>
        <p:spPr>
          <a:xfrm>
            <a:off x="658368" y="3945370"/>
            <a:ext cx="358437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i="0">
                <a:solidFill>
                  <a:srgbClr val="A0DC23"/>
                </a:solidFill>
                <a:latin typeface="+mj-lt"/>
              </a:rPr>
              <a:t>FINITE DISTANCE. INFINITE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8953"/>
            <a:ext cx="128913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 i="0" dirty="0">
                <a:solidFill>
                  <a:srgbClr val="A0DC23"/>
                </a:solidFill>
                <a:latin typeface="+mj-lt"/>
              </a:rPr>
              <a:t>0</a:t>
            </a:r>
            <a:r>
              <a:rPr lang="en-IN" sz="1000" b="1" i="0" dirty="0">
                <a:solidFill>
                  <a:srgbClr val="A0DC23"/>
                </a:solidFill>
                <a:latin typeface="+mj-lt"/>
              </a:rPr>
              <a:t>3</a:t>
            </a:r>
            <a:r>
              <a:rPr sz="1000" b="1" i="0" dirty="0">
                <a:solidFill>
                  <a:srgbClr val="A0DC23"/>
                </a:solidFill>
                <a:latin typeface="+mj-lt"/>
              </a:rPr>
              <a:t>• 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9697"/>
            <a:ext cx="4560544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 dirty="0">
                <a:solidFill>
                  <a:srgbClr val="F8FAF8"/>
                </a:solidFill>
                <a:latin typeface="+mj-lt"/>
              </a:rPr>
              <a:t>Why a single-category 10K?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87519"/>
            <a:ext cx="495981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 dirty="0">
                <a:solidFill>
                  <a:srgbClr val="AEB8BF"/>
                </a:solidFill>
                <a:latin typeface="+mj-lt"/>
              </a:rPr>
              <a:t>Because scale does not have to mean compromise.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9583"/>
            <a:ext cx="5074920" cy="1627632"/>
          </a:xfrm>
          <a:prstGeom prst="roundRect">
            <a:avLst/>
          </a:prstGeom>
          <a:solidFill>
            <a:srgbClr val="101824"/>
          </a:solidFill>
          <a:ln>
            <a:solidFill>
              <a:srgbClr val="36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2117818"/>
            <a:ext cx="41870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99530"/>
            <a:ext cx="82580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F8FAF8"/>
                </a:solidFill>
                <a:latin typeface="+mj-lt"/>
              </a:rPr>
              <a:t>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66776"/>
            <a:ext cx="4930416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EB8BF"/>
                </a:solidFill>
                <a:latin typeface="+mj-lt"/>
              </a:rPr>
              <a:t>No parallel 3K/5K races competing for attention. The entire event is built around one runner journey.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959583"/>
            <a:ext cx="5074920" cy="1627632"/>
          </a:xfrm>
          <a:prstGeom prst="roundRect">
            <a:avLst/>
          </a:prstGeom>
          <a:solidFill>
            <a:srgbClr val="101824"/>
          </a:solidFill>
          <a:ln>
            <a:solidFill>
              <a:srgbClr val="36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73368" y="2117818"/>
            <a:ext cx="41870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099530"/>
            <a:ext cx="74687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F8FAF8"/>
                </a:solidFill>
                <a:latin typeface="+mj-lt"/>
              </a:rPr>
              <a:t>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7" y="2632776"/>
            <a:ext cx="469512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EB8BF"/>
                </a:solidFill>
                <a:latin typeface="+mj-lt"/>
              </a:rPr>
              <a:t>One distance and one direction simplify wayfinding, race operations, pacing, branding and spectator storytelling.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71264"/>
            <a:ext cx="5074920" cy="1627632"/>
          </a:xfrm>
          <a:prstGeom prst="roundRect">
            <a:avLst/>
          </a:prstGeom>
          <a:solidFill>
            <a:srgbClr val="101824"/>
          </a:solidFill>
          <a:ln>
            <a:solidFill>
              <a:srgbClr val="36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" y="4129498"/>
            <a:ext cx="41870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11209"/>
            <a:ext cx="134844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F8FAF8"/>
                </a:solidFill>
                <a:latin typeface="+mj-lt"/>
              </a:rPr>
              <a:t>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708136"/>
            <a:ext cx="4588799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EB8BF"/>
                </a:solidFill>
                <a:latin typeface="+mj-lt"/>
              </a:rPr>
              <a:t>A cleaner field and a purpose-built 10K environment create a more premium race-day proposition.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971264"/>
            <a:ext cx="5074920" cy="1627632"/>
          </a:xfrm>
          <a:prstGeom prst="roundRect">
            <a:avLst/>
          </a:prstGeom>
          <a:solidFill>
            <a:srgbClr val="101824"/>
          </a:solidFill>
          <a:ln>
            <a:solidFill>
              <a:srgbClr val="36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368" y="4129498"/>
            <a:ext cx="41870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111209"/>
            <a:ext cx="167911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F8FAF8"/>
                </a:solidFill>
                <a:latin typeface="+mj-lt"/>
              </a:rPr>
              <a:t>BRAND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8866" y="4695381"/>
            <a:ext cx="410076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EB8BF"/>
                </a:solidFill>
                <a:latin typeface="+mj-lt"/>
              </a:rPr>
              <a:t>Sponsors become part of the central story instead of being diluted across multiple race categories.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2700">
            <a:solidFill>
              <a:srgbClr val="3641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503390"/>
            <a:ext cx="250902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 i="0">
                <a:solidFill>
                  <a:srgbClr val="AEB8BF"/>
                </a:solidFill>
                <a:latin typeface="+mj-lt"/>
              </a:rPr>
              <a:t>ONE10K BENGALURU  •  SPONSOR PARTNERSHIP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4509" y="6486552"/>
            <a:ext cx="30008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 i="0" dirty="0">
                <a:solidFill>
                  <a:srgbClr val="AEB8BF"/>
                </a:solidFill>
                <a:latin typeface="+mj-lt"/>
              </a:rPr>
              <a:t>0</a:t>
            </a:r>
            <a:r>
              <a:rPr lang="en-IN" sz="900" b="1" i="0" dirty="0">
                <a:solidFill>
                  <a:srgbClr val="AEB8BF"/>
                </a:solidFill>
                <a:latin typeface="+mj-lt"/>
              </a:rPr>
              <a:t>3</a:t>
            </a:r>
            <a:endParaRPr sz="900" b="1" i="0" dirty="0">
              <a:solidFill>
                <a:srgbClr val="AEB8BF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0072"/>
            <a:ext cx="256672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 i="0" dirty="0">
                <a:solidFill>
                  <a:srgbClr val="A0DC23"/>
                </a:solidFill>
                <a:latin typeface="+mj-lt"/>
              </a:rPr>
              <a:t>0</a:t>
            </a:r>
            <a:r>
              <a:rPr lang="en-IN" sz="900" b="1" i="0" dirty="0">
                <a:solidFill>
                  <a:srgbClr val="A0DC23"/>
                </a:solidFill>
                <a:latin typeface="+mj-lt"/>
              </a:rPr>
              <a:t>4</a:t>
            </a:r>
            <a:r>
              <a:rPr sz="900" b="1" i="0" dirty="0">
                <a:solidFill>
                  <a:srgbClr val="A0DC23"/>
                </a:solidFill>
                <a:latin typeface="+mj-lt"/>
              </a:rPr>
              <a:t> •  THE ADVANTAGE</a:t>
            </a:r>
            <a:r>
              <a:rPr lang="en-IN" sz="900" b="1" dirty="0">
                <a:solidFill>
                  <a:srgbClr val="A0DC23"/>
                </a:solidFill>
                <a:latin typeface="+mj-lt"/>
              </a:rPr>
              <a:t> &amp; ORGANISER CREDIBILITY</a:t>
            </a:r>
            <a:endParaRPr sz="900" b="1" i="0" dirty="0">
              <a:solidFill>
                <a:srgbClr val="A0DC23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48244"/>
            <a:ext cx="4694298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 dirty="0">
                <a:solidFill>
                  <a:srgbClr val="F8FAF8"/>
                </a:solidFill>
                <a:latin typeface="+mj-lt"/>
              </a:rPr>
              <a:t>Built by runners, for runners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102" y="2027843"/>
            <a:ext cx="5166360" cy="3584448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1422" y="2245513"/>
            <a:ext cx="230858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 dirty="0">
                <a:solidFill>
                  <a:srgbClr val="A0DC23"/>
                </a:solidFill>
                <a:latin typeface="+mj-lt"/>
              </a:rPr>
              <a:t>WHY ONE CATEGORY?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59" y="2757577"/>
            <a:ext cx="82580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F8FAF8"/>
                </a:solidFill>
                <a:latin typeface="+mj-lt"/>
              </a:rPr>
              <a:t>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1541" y="2683968"/>
            <a:ext cx="3459859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The entire event is built around one runner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459" y="3402124"/>
            <a:ext cx="74687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 dirty="0">
                <a:solidFill>
                  <a:srgbClr val="F8FAF8"/>
                </a:solidFill>
                <a:latin typeface="+mj-lt"/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376" y="3328110"/>
            <a:ext cx="3459859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One direction simplifies route flow, operations and wayfinding.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459" y="4131735"/>
            <a:ext cx="134844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 dirty="0">
                <a:solidFill>
                  <a:srgbClr val="F8FAF8"/>
                </a:solidFill>
                <a:latin typeface="+mj-lt"/>
              </a:rP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0909" y="4036124"/>
            <a:ext cx="320486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A purpose-built 10K environment creates a cleaner race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459" y="4765649"/>
            <a:ext cx="92890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 dirty="0">
                <a:solidFill>
                  <a:srgbClr val="F8FAF8"/>
                </a:solidFill>
                <a:latin typeface="+mj-lt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8377" y="4720068"/>
            <a:ext cx="351302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Sponsor visibility is concentrated, not diluted across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7782" y="2027843"/>
            <a:ext cx="5349240" cy="3584448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75193" y="2215657"/>
            <a:ext cx="252646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 dirty="0">
                <a:solidFill>
                  <a:srgbClr val="A0DC23"/>
                </a:solidFill>
                <a:latin typeface="+mj-lt"/>
              </a:rPr>
              <a:t>ORGANISER CREDIBILITY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1731" y="2757911"/>
            <a:ext cx="2793386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 dirty="0">
                <a:solidFill>
                  <a:srgbClr val="A0DC23"/>
                </a:solidFill>
                <a:latin typeface="+mj-lt"/>
              </a:rPr>
              <a:t>10+</a:t>
            </a:r>
            <a:r>
              <a:rPr lang="en-IN" sz="3400" b="1" i="0" dirty="0">
                <a:solidFill>
                  <a:srgbClr val="A0DC23"/>
                </a:solidFill>
                <a:latin typeface="+mj-lt"/>
              </a:rPr>
              <a:t> Years</a:t>
            </a:r>
            <a:endParaRPr sz="3400" b="1" i="0" dirty="0">
              <a:solidFill>
                <a:srgbClr val="A0DC23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14141" y="3340451"/>
            <a:ext cx="424827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i="0" dirty="0">
                <a:solidFill>
                  <a:srgbClr val="F8FAF8"/>
                </a:solidFill>
                <a:latin typeface="+mj-lt"/>
              </a:rPr>
              <a:t>running experience</a:t>
            </a:r>
            <a:r>
              <a:rPr lang="en-IN" b="1" i="0" dirty="0">
                <a:solidFill>
                  <a:srgbClr val="F8FAF8"/>
                </a:solidFill>
                <a:latin typeface="+mj-lt"/>
              </a:rPr>
              <a:t> </a:t>
            </a:r>
            <a:r>
              <a:rPr b="1" i="0" dirty="0">
                <a:solidFill>
                  <a:srgbClr val="F8FAF8"/>
                </a:solidFill>
                <a:latin typeface="+mj-lt"/>
              </a:rPr>
              <a:t>across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5389" y="3794547"/>
            <a:ext cx="4301054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 i="0" dirty="0">
                <a:solidFill>
                  <a:srgbClr val="ABB5BE"/>
                </a:solidFill>
                <a:latin typeface="+mj-lt"/>
              </a:rPr>
              <a:t>Runner-first mindset • Endurance experience • Race-day understanding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930037"/>
            <a:ext cx="1081437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i="1" dirty="0">
                <a:solidFill>
                  <a:srgbClr val="F8FAF8"/>
                </a:solidFill>
                <a:latin typeface="+mj-lt"/>
              </a:rPr>
              <a:t>“We know what runners notice — and what makes them come back.”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6428232"/>
            <a:ext cx="10945368" cy="0"/>
          </a:xfrm>
          <a:prstGeom prst="line">
            <a:avLst/>
          </a:prstGeom>
          <a:ln w="12700">
            <a:solidFill>
              <a:srgbClr val="344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485102"/>
            <a:ext cx="1861407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 i="0">
                <a:solidFill>
                  <a:srgbClr val="ABB5BE"/>
                </a:solidFill>
                <a:latin typeface="+mj-lt"/>
              </a:rPr>
              <a:t>ONE10K BENGALURU  •  7 MARCH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9901" y="6485102"/>
            <a:ext cx="287259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 i="0" dirty="0">
                <a:solidFill>
                  <a:srgbClr val="ABB5BE"/>
                </a:solidFill>
                <a:latin typeface="+mj-lt"/>
              </a:rPr>
              <a:t>0</a:t>
            </a:r>
            <a:r>
              <a:rPr lang="en-IN" sz="800" b="1" i="0" dirty="0">
                <a:solidFill>
                  <a:srgbClr val="ABB5BE"/>
                </a:solidFill>
                <a:latin typeface="+mj-lt"/>
              </a:rPr>
              <a:t>4</a:t>
            </a:r>
            <a:endParaRPr sz="800" b="1" i="0" dirty="0">
              <a:solidFill>
                <a:srgbClr val="ABB5BE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B7C3F-F717-A647-7542-EF132A9D531A}"/>
              </a:ext>
            </a:extLst>
          </p:cNvPr>
          <p:cNvSpPr txBox="1"/>
          <p:nvPr/>
        </p:nvSpPr>
        <p:spPr>
          <a:xfrm>
            <a:off x="612648" y="1194976"/>
            <a:ext cx="997610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EB8BF"/>
                </a:solidFill>
                <a:latin typeface="+mj-lt"/>
              </a:rPr>
              <a:t>The organizing team brings 10+ years of running experience across India — with first-hand understanding of endurance athletes, race-day pressure and runner expectations.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AAFE87-C7C3-4DB1-5613-C376E1A24DEA}"/>
              </a:ext>
            </a:extLst>
          </p:cNvPr>
          <p:cNvSpPr txBox="1"/>
          <p:nvPr/>
        </p:nvSpPr>
        <p:spPr>
          <a:xfrm>
            <a:off x="7139701" y="4369000"/>
            <a:ext cx="2793386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3400" b="1" i="0" dirty="0">
                <a:solidFill>
                  <a:srgbClr val="A0DC23"/>
                </a:solidFill>
                <a:latin typeface="+mj-lt"/>
              </a:rPr>
              <a:t>5</a:t>
            </a:r>
            <a:r>
              <a:rPr sz="3400" b="1" i="0" dirty="0">
                <a:solidFill>
                  <a:srgbClr val="A0DC23"/>
                </a:solidFill>
                <a:latin typeface="+mj-lt"/>
              </a:rPr>
              <a:t>+</a:t>
            </a:r>
            <a:r>
              <a:rPr lang="en-IN" sz="3400" b="1" i="0" dirty="0">
                <a:solidFill>
                  <a:srgbClr val="A0DC23"/>
                </a:solidFill>
                <a:latin typeface="+mj-lt"/>
              </a:rPr>
              <a:t> Years</a:t>
            </a:r>
            <a:endParaRPr sz="3400" b="1" i="0" dirty="0">
              <a:solidFill>
                <a:srgbClr val="A0DC23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1A88BF-FB6C-CAA7-8DEE-60F206A80CB0}"/>
              </a:ext>
            </a:extLst>
          </p:cNvPr>
          <p:cNvSpPr txBox="1"/>
          <p:nvPr/>
        </p:nvSpPr>
        <p:spPr>
          <a:xfrm>
            <a:off x="6352015" y="4904151"/>
            <a:ext cx="496054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b="1" i="0" dirty="0">
                <a:solidFill>
                  <a:srgbClr val="F8FAF8"/>
                </a:solidFill>
                <a:latin typeface="+mj-lt"/>
              </a:rPr>
              <a:t>Organising and executing Bengaluru Runners </a:t>
            </a:r>
            <a:r>
              <a:rPr lang="en-IN" b="1" i="0" dirty="0" err="1">
                <a:solidFill>
                  <a:srgbClr val="F8FAF8"/>
                </a:solidFill>
                <a:latin typeface="+mj-lt"/>
              </a:rPr>
              <a:t>Jatre</a:t>
            </a:r>
            <a:endParaRPr b="1" i="0" dirty="0">
              <a:solidFill>
                <a:srgbClr val="F8FAF8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0072"/>
            <a:ext cx="1372492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 i="0" dirty="0">
                <a:solidFill>
                  <a:srgbClr val="A0DC23"/>
                </a:solidFill>
                <a:latin typeface="+mj-lt"/>
              </a:rPr>
              <a:t>0</a:t>
            </a:r>
            <a:r>
              <a:rPr lang="en-IN" sz="900" b="1" i="0" dirty="0">
                <a:solidFill>
                  <a:srgbClr val="A0DC23"/>
                </a:solidFill>
                <a:latin typeface="+mj-lt"/>
              </a:rPr>
              <a:t>5</a:t>
            </a:r>
            <a:r>
              <a:rPr sz="900" b="1" i="0" dirty="0">
                <a:solidFill>
                  <a:srgbClr val="A0DC23"/>
                </a:solidFill>
                <a:latin typeface="+mj-lt"/>
              </a:rPr>
              <a:t>  • 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1409"/>
            <a:ext cx="8223020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 dirty="0">
                <a:solidFill>
                  <a:srgbClr val="F8FAF8"/>
                </a:solidFill>
                <a:latin typeface="+mj-lt"/>
              </a:rPr>
              <a:t>One concentrated audience. Multiple touchpoints.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2313"/>
            <a:ext cx="792845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i="0">
                <a:solidFill>
                  <a:srgbClr val="ABB5BE"/>
                </a:solidFill>
                <a:latin typeface="+mj-lt"/>
              </a:rPr>
              <a:t>The sponsor story can begin before race day and continue through the finish and post-race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2514600" cy="107899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8" y="1965178"/>
            <a:ext cx="1077539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i="0">
                <a:solidFill>
                  <a:srgbClr val="A0DC23"/>
                </a:solidFill>
                <a:latin typeface="+mj-lt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62746"/>
            <a:ext cx="1569725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Expected runners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847088"/>
            <a:ext cx="2514600" cy="107899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57016" y="1965178"/>
            <a:ext cx="683200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i="0">
                <a:solidFill>
                  <a:srgbClr val="F5871E"/>
                </a:solidFill>
                <a:latin typeface="+mj-lt"/>
              </a:rPr>
              <a:t>10K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2462746"/>
            <a:ext cx="1699889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Single race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847088"/>
            <a:ext cx="2514600" cy="107899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18504" y="1965178"/>
            <a:ext cx="346570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i="0">
                <a:solidFill>
                  <a:srgbClr val="48AA4B"/>
                </a:solidFill>
                <a:latin typeface="+mj-l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462746"/>
            <a:ext cx="916661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1847088"/>
            <a:ext cx="2514600" cy="107899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79992" y="1965178"/>
            <a:ext cx="346570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i="0">
                <a:solidFill>
                  <a:srgbClr val="A0DC23"/>
                </a:solidFill>
                <a:latin typeface="+mj-l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462746"/>
            <a:ext cx="165263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BB5BE"/>
                </a:solidFill>
                <a:latin typeface="+mj-lt"/>
              </a:rPr>
              <a:t>Shared experience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429000"/>
            <a:ext cx="1627632" cy="1417320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3555454"/>
            <a:ext cx="38023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0DC23"/>
                </a:solidFill>
                <a:latin typeface="+mj-lt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18" y="3930133"/>
            <a:ext cx="11504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8FAF8"/>
                </a:solidFill>
                <a:latin typeface="+mj-lt"/>
              </a:rPr>
              <a:t>DISCOVER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556" y="4382986"/>
            <a:ext cx="1750031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 i="0" dirty="0">
                <a:solidFill>
                  <a:srgbClr val="ABB5BE"/>
                </a:solidFill>
                <a:latin typeface="+mj-lt"/>
              </a:rPr>
              <a:t>Digital + 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8709" y="3922663"/>
            <a:ext cx="37061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A0DC23"/>
                </a:solidFill>
                <a:latin typeface="+mj-l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32887" y="3429000"/>
            <a:ext cx="1627632" cy="1417320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42615" y="3555454"/>
            <a:ext cx="38023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0DC23"/>
                </a:solidFill>
                <a:latin typeface="+mj-lt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8057" y="3930133"/>
            <a:ext cx="103900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8FAF8"/>
                </a:solidFill>
                <a:latin typeface="+mj-lt"/>
              </a:rPr>
              <a:t>COMMIT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8817" y="4382986"/>
            <a:ext cx="1117485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 i="0">
                <a:solidFill>
                  <a:srgbClr val="ABB5BE"/>
                </a:solidFill>
                <a:latin typeface="+mj-lt"/>
              </a:rPr>
              <a:t>Registration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3229" y="3922663"/>
            <a:ext cx="37061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A0DC23"/>
                </a:solidFill>
                <a:latin typeface="+mj-lt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7" y="3429000"/>
            <a:ext cx="1627632" cy="1417320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17136" y="3555454"/>
            <a:ext cx="38023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0DC23"/>
                </a:solidFill>
                <a:latin typeface="+mj-l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2354" y="3930133"/>
            <a:ext cx="103945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8FAF8"/>
                </a:solidFill>
                <a:latin typeface="+mj-lt"/>
              </a:rPr>
              <a:t>PREPARE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8786" y="4382986"/>
            <a:ext cx="1586588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 i="0">
                <a:solidFill>
                  <a:srgbClr val="ABB5BE"/>
                </a:solidFill>
                <a:latin typeface="+mj-lt"/>
              </a:rPr>
              <a:t>Training +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7749" y="3922663"/>
            <a:ext cx="37061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A0DC23"/>
                </a:solidFill>
                <a:latin typeface="+mj-lt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7" y="3429000"/>
            <a:ext cx="1627632" cy="1417320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91655" y="3555454"/>
            <a:ext cx="38023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0DC23"/>
                </a:solidFill>
                <a:latin typeface="+mj-lt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7860" y="3930133"/>
            <a:ext cx="61747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8FAF8"/>
                </a:solidFill>
                <a:latin typeface="+mj-lt"/>
              </a:rPr>
              <a:t>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0640" y="4286694"/>
            <a:ext cx="1936182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 dirty="0">
                <a:solidFill>
                  <a:srgbClr val="ABB5BE"/>
                </a:solidFill>
                <a:latin typeface="+mj-lt"/>
              </a:rPr>
              <a:t>Course + brand touchpoints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2268" y="3922663"/>
            <a:ext cx="37061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A0DC23"/>
                </a:solidFill>
                <a:latin typeface="+mj-lt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3429000"/>
            <a:ext cx="1627632" cy="1417320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66175" y="3555454"/>
            <a:ext cx="38023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0DC23"/>
                </a:solidFill>
                <a:latin typeface="+mj-lt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3193" y="3930133"/>
            <a:ext cx="123585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8FAF8"/>
                </a:solidFill>
                <a:latin typeface="+mj-lt"/>
              </a:rPr>
              <a:t>CELEBRATE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6131" y="4382986"/>
            <a:ext cx="1309975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 i="0">
                <a:solidFill>
                  <a:srgbClr val="ABB5BE"/>
                </a:solidFill>
                <a:latin typeface="+mj-lt"/>
              </a:rPr>
              <a:t>Finish + medal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6789" y="3922663"/>
            <a:ext cx="37061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A0DC23"/>
                </a:solidFill>
                <a:latin typeface="+mj-lt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30968" y="3429000"/>
            <a:ext cx="1627632" cy="1417320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40696" y="3555454"/>
            <a:ext cx="38023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>
                <a:solidFill>
                  <a:srgbClr val="A0DC23"/>
                </a:solidFill>
                <a:latin typeface="+mj-lt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78248" y="3930133"/>
            <a:ext cx="131478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8FAF8"/>
                </a:solidFill>
                <a:latin typeface="+mj-lt"/>
              </a:rPr>
              <a:t>REMEMBER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24964" y="4382986"/>
            <a:ext cx="1421351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 i="0">
                <a:solidFill>
                  <a:srgbClr val="ABB5BE"/>
                </a:solidFill>
                <a:latin typeface="+mj-lt"/>
              </a:rPr>
              <a:t>Social +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104" y="5416034"/>
            <a:ext cx="1059931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 dirty="0">
                <a:solidFill>
                  <a:srgbClr val="F8FAF8"/>
                </a:solidFill>
                <a:latin typeface="+mj-lt"/>
              </a:rPr>
              <a:t>A single-category format gives sponsors a clearer, more consistent presence across the entire runner lifecycle.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1792" y="6428232"/>
            <a:ext cx="10945368" cy="0"/>
          </a:xfrm>
          <a:prstGeom prst="line">
            <a:avLst/>
          </a:prstGeom>
          <a:ln w="12700">
            <a:solidFill>
              <a:srgbClr val="344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1792" y="6485102"/>
            <a:ext cx="1861407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 i="0">
                <a:solidFill>
                  <a:srgbClr val="ABB5BE"/>
                </a:solidFill>
                <a:latin typeface="+mj-lt"/>
              </a:rPr>
              <a:t>ONE10K BENGALURU  •  7 MARCH 2027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79901" y="6485102"/>
            <a:ext cx="287259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 i="0" dirty="0">
                <a:solidFill>
                  <a:srgbClr val="ABB5BE"/>
                </a:solidFill>
                <a:latin typeface="+mj-lt"/>
              </a:rPr>
              <a:t>0</a:t>
            </a:r>
            <a:r>
              <a:rPr lang="en-IN" sz="800" b="1" i="0" dirty="0">
                <a:solidFill>
                  <a:srgbClr val="ABB5BE"/>
                </a:solidFill>
                <a:latin typeface="+mj-lt"/>
              </a:rPr>
              <a:t>5</a:t>
            </a:r>
            <a:endParaRPr sz="800" b="1" i="0" dirty="0">
              <a:solidFill>
                <a:srgbClr val="ABB5B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60072"/>
            <a:ext cx="113043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 i="0" dirty="0">
                <a:solidFill>
                  <a:srgbClr val="A0DC23"/>
                </a:solidFill>
                <a:latin typeface="+mj-lt"/>
              </a:rPr>
              <a:t>0</a:t>
            </a:r>
            <a:r>
              <a:rPr lang="en-IN" sz="900" b="1" i="0" dirty="0">
                <a:solidFill>
                  <a:srgbClr val="A0DC23"/>
                </a:solidFill>
                <a:latin typeface="+mj-lt"/>
              </a:rPr>
              <a:t>6</a:t>
            </a:r>
            <a:r>
              <a:rPr sz="900" b="1" i="0" dirty="0">
                <a:solidFill>
                  <a:srgbClr val="A0DC23"/>
                </a:solidFill>
                <a:latin typeface="+mj-lt"/>
              </a:rPr>
              <a:t>  • 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01409"/>
            <a:ext cx="7178568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i="0" dirty="0">
                <a:solidFill>
                  <a:srgbClr val="F8FAF8"/>
                </a:solidFill>
                <a:latin typeface="+mj-lt"/>
              </a:rPr>
              <a:t>Own a meaningful part of the ONE10K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2313"/>
            <a:ext cx="6697411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i="0">
                <a:solidFill>
                  <a:srgbClr val="ABB5BE"/>
                </a:solidFill>
                <a:latin typeface="+mj-lt"/>
              </a:rPr>
              <a:t>We prefer a small number of meaningful partnerships over a crowded sponsor wall.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3429000" cy="126187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1991607"/>
            <a:ext cx="161909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TITLE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54884"/>
            <a:ext cx="3068557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Naming integration • master brand presence • event dominance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47088"/>
            <a:ext cx="3429000" cy="126187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991607"/>
            <a:ext cx="146597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POWERED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469658"/>
            <a:ext cx="2974139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Start / finish • digital • high-frequency race-day visibility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847088"/>
            <a:ext cx="3429000" cy="126187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84464" y="1991607"/>
            <a:ext cx="196855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OFFICIAL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454884"/>
            <a:ext cx="2794662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ABB5BE"/>
                </a:solidFill>
                <a:latin typeface="+mj-lt"/>
              </a:rPr>
              <a:t>Category ownership • course / participant touchpoints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74720"/>
            <a:ext cx="3429000" cy="126187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" y="3619237"/>
            <a:ext cx="228434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EXPERIENCE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085" y="4038227"/>
            <a:ext cx="304571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Hydration • nutrition • recovery • mobility • technology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74720"/>
            <a:ext cx="3429000" cy="126187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3712" y="3619237"/>
            <a:ext cx="239809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COMMUNITY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4657" y="3995402"/>
            <a:ext cx="296648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ABB5BE"/>
                </a:solidFill>
                <a:latin typeface="+mj-lt"/>
              </a:rPr>
              <a:t>Training content • runner engagement • social activation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474720"/>
            <a:ext cx="3429000" cy="1261872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4464" y="3619237"/>
            <a:ext cx="199740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>
                <a:solidFill>
                  <a:srgbClr val="A0DC23"/>
                </a:solidFill>
                <a:latin typeface="+mj-lt"/>
              </a:rPr>
              <a:t>FINISHER 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9715" y="4041947"/>
            <a:ext cx="2891338" cy="5526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Medal • bib • certificate • finish-line experience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21808"/>
            <a:ext cx="10808208" cy="566928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5786" y="5425402"/>
            <a:ext cx="958422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>
                <a:solidFill>
                  <a:srgbClr val="F8FAF8"/>
                </a:solidFill>
                <a:latin typeface="+mj-lt"/>
              </a:rPr>
              <a:t>Potential assets: event identity • bib • T-shirt • medal • start/finish • course • digital • content • activation • sampling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6428232"/>
            <a:ext cx="10945368" cy="0"/>
          </a:xfrm>
          <a:prstGeom prst="line">
            <a:avLst/>
          </a:prstGeom>
          <a:ln w="12700">
            <a:solidFill>
              <a:srgbClr val="344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485102"/>
            <a:ext cx="1861407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 i="0">
                <a:solidFill>
                  <a:srgbClr val="ABB5BE"/>
                </a:solidFill>
                <a:latin typeface="+mj-lt"/>
              </a:rPr>
              <a:t>ONE10K BENGALURU  •  7 MARCH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9902" y="6485102"/>
            <a:ext cx="287258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 i="0">
                <a:solidFill>
                  <a:srgbClr val="ABB5BE"/>
                </a:solidFill>
                <a:latin typeface="+mj-lt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solidFill>
              <a:srgbClr val="F7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2004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8FCD00"/>
                </a:solidFill>
                <a:latin typeface="Aptos"/>
              </a:rPr>
              <a:t>07 • WHY ONE10K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070"/>
            <a:ext cx="9304983" cy="4678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 i="0" dirty="0">
                <a:solidFill>
                  <a:schemeClr val="bg1"/>
                </a:solidFill>
                <a:latin typeface="+mj-lt"/>
              </a:rPr>
              <a:t>A focused platform for brands that want attention, not clutter.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8312"/>
            <a:ext cx="1878206" cy="48320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900" b="1" i="0" dirty="0">
                <a:solidFill>
                  <a:schemeClr val="bg1"/>
                </a:solidFill>
                <a:latin typeface="+mj-lt"/>
              </a:rPr>
              <a:t>ONE EVENT.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32672"/>
            <a:ext cx="2497607" cy="48320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900" b="1" i="0">
                <a:solidFill>
                  <a:srgbClr val="8FCD00"/>
                </a:solidFill>
                <a:latin typeface="+mj-lt"/>
              </a:rPr>
              <a:t>ONE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27032"/>
            <a:ext cx="3058786" cy="48320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900" b="1" i="0" dirty="0">
                <a:solidFill>
                  <a:schemeClr val="bg1"/>
                </a:solidFill>
                <a:latin typeface="+mj-lt"/>
              </a:rPr>
              <a:t>ONE BRAND 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5C605A"/>
                </a:solidFill>
                <a:latin typeface="Aptos"/>
              </a:rPr>
              <a:t>08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E0C23E-FF5B-8F34-AB93-BE6E092BED99}"/>
              </a:ext>
            </a:extLst>
          </p:cNvPr>
          <p:cNvSpPr txBox="1"/>
          <p:nvPr/>
        </p:nvSpPr>
        <p:spPr>
          <a:xfrm>
            <a:off x="621792" y="6485102"/>
            <a:ext cx="1861407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 i="0" dirty="0">
                <a:solidFill>
                  <a:srgbClr val="ABB5BE"/>
                </a:solidFill>
                <a:latin typeface="+mj-lt"/>
              </a:rPr>
              <a:t>ONE10K BENGALURU  •  7 MARCH 2027</a:t>
            </a:r>
          </a:p>
        </p:txBody>
      </p:sp>
      <p:cxnSp>
        <p:nvCxnSpPr>
          <p:cNvPr id="25" name="Connector 46">
            <a:extLst>
              <a:ext uri="{FF2B5EF4-FFF2-40B4-BE49-F238E27FC236}">
                <a16:creationId xmlns:a16="http://schemas.microsoft.com/office/drawing/2014/main" id="{08E2B08C-AA47-B8E0-988E-C64AA91C8E6D}"/>
              </a:ext>
            </a:extLst>
          </p:cNvPr>
          <p:cNvCxnSpPr/>
          <p:nvPr/>
        </p:nvCxnSpPr>
        <p:spPr>
          <a:xfrm>
            <a:off x="621792" y="6428232"/>
            <a:ext cx="10945368" cy="0"/>
          </a:xfrm>
          <a:prstGeom prst="line">
            <a:avLst/>
          </a:prstGeom>
          <a:ln w="12700">
            <a:solidFill>
              <a:srgbClr val="344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3C15395B-88FD-5ACF-64F4-E79896B7B5F3}"/>
              </a:ext>
            </a:extLst>
          </p:cNvPr>
          <p:cNvSpPr/>
          <p:nvPr/>
        </p:nvSpPr>
        <p:spPr>
          <a:xfrm>
            <a:off x="5638800" y="1439831"/>
            <a:ext cx="5875959" cy="3584448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76554" y="2090786"/>
            <a:ext cx="229294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 dirty="0">
                <a:solidFill>
                  <a:schemeClr val="bg1"/>
                </a:solidFill>
                <a:latin typeface="+mj-lt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034" y="2095358"/>
            <a:ext cx="3124702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 dirty="0">
                <a:solidFill>
                  <a:schemeClr val="bg1"/>
                </a:solidFill>
                <a:latin typeface="+mj-lt"/>
              </a:rPr>
              <a:t>Focused 10K-only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6554" y="2593705"/>
            <a:ext cx="229294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  <a:latin typeface="+mj-lt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8034" y="2598279"/>
            <a:ext cx="3712363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>
                <a:solidFill>
                  <a:schemeClr val="bg1"/>
                </a:solidFill>
                <a:latin typeface="+mj-lt"/>
              </a:rPr>
              <a:t>High-frequency runner touchpoints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554" y="3096626"/>
            <a:ext cx="229294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  <a:latin typeface="+mj-l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34" y="3101199"/>
            <a:ext cx="2739404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>
                <a:solidFill>
                  <a:schemeClr val="bg1"/>
                </a:solidFill>
                <a:latin typeface="+mj-lt"/>
              </a:rPr>
              <a:t>Community-led credibility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554" y="3599546"/>
            <a:ext cx="229294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  <a:latin typeface="+mj-lt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034" y="3604118"/>
            <a:ext cx="3916778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>
                <a:solidFill>
                  <a:schemeClr val="bg1"/>
                </a:solidFill>
                <a:latin typeface="+mj-lt"/>
              </a:rPr>
              <a:t>Before / during / after race 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554" y="4102466"/>
            <a:ext cx="229294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  <a:latin typeface="+mj-lt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8034" y="4107039"/>
            <a:ext cx="3725572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000" b="0" i="0">
                <a:solidFill>
                  <a:schemeClr val="bg1"/>
                </a:solidFill>
                <a:latin typeface="+mj-lt"/>
              </a:rPr>
              <a:t>Premium, uncluttered environment</a:t>
            </a:r>
          </a:p>
        </p:txBody>
      </p:sp>
      <p:sp>
        <p:nvSpPr>
          <p:cNvPr id="52" name="Rounded Rectangle 14">
            <a:extLst>
              <a:ext uri="{FF2B5EF4-FFF2-40B4-BE49-F238E27FC236}">
                <a16:creationId xmlns:a16="http://schemas.microsoft.com/office/drawing/2014/main" id="{B35F3F41-FA5A-62C2-52B2-2B8A611325AE}"/>
              </a:ext>
            </a:extLst>
          </p:cNvPr>
          <p:cNvSpPr/>
          <p:nvPr/>
        </p:nvSpPr>
        <p:spPr>
          <a:xfrm>
            <a:off x="469392" y="5238505"/>
            <a:ext cx="11045367" cy="796627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0069" y="5466962"/>
            <a:ext cx="6541343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+mj-lt"/>
              </a:rPr>
              <a:t>THE GOAL: MAKE THE BRAND PART OF THE RUNNER'S STORY.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DC23"/>
          </a:solidFill>
          <a:ln>
            <a:solidFill>
              <a:srgbClr val="A0D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79329"/>
            <a:ext cx="1919115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 i="0" dirty="0">
                <a:solidFill>
                  <a:srgbClr val="F8FAF8"/>
                </a:solidFill>
                <a:latin typeface="+mj-lt"/>
              </a:rPr>
              <a:t>ONE10K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24678"/>
            <a:ext cx="138929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i="0" dirty="0">
                <a:solidFill>
                  <a:srgbClr val="A0DC23"/>
                </a:solidFill>
                <a:latin typeface="+mj-lt"/>
              </a:rPr>
              <a:t>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3833"/>
            <a:ext cx="363150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i="0" dirty="0">
                <a:solidFill>
                  <a:srgbClr val="F8FAF8"/>
                </a:solidFill>
                <a:latin typeface="+mj-lt"/>
              </a:rPr>
              <a:t>ONE DISTANCE. ONE DIRECTION. ONE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71522"/>
            <a:ext cx="2006703" cy="4462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 i="0" dirty="0">
                <a:solidFill>
                  <a:srgbClr val="A0DC23"/>
                </a:solidFill>
                <a:latin typeface="+mj-lt"/>
              </a:rPr>
              <a:t>7 MARCH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08566"/>
            <a:ext cx="3064044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 i="0" dirty="0">
                <a:solidFill>
                  <a:srgbClr val="ABB5BE"/>
                </a:solidFill>
                <a:latin typeface="+mj-lt"/>
              </a:rPr>
              <a:t>NICE Road • </a:t>
            </a:r>
            <a:r>
              <a:rPr sz="1500" b="0" i="0" dirty="0" err="1">
                <a:solidFill>
                  <a:srgbClr val="ABB5BE"/>
                </a:solidFill>
                <a:latin typeface="+mj-lt"/>
              </a:rPr>
              <a:t>Nayandahalli</a:t>
            </a:r>
            <a:r>
              <a:rPr sz="1500" b="0" i="0" dirty="0">
                <a:solidFill>
                  <a:srgbClr val="ABB5BE"/>
                </a:solidFill>
                <a:latin typeface="+mj-lt"/>
              </a:rPr>
              <a:t>, Bengaluru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05072"/>
            <a:ext cx="5897880" cy="1207008"/>
          </a:xfrm>
          <a:prstGeom prst="roundRect">
            <a:avLst/>
          </a:prstGeom>
          <a:solidFill>
            <a:srgbClr val="101823"/>
          </a:solidFill>
          <a:ln>
            <a:solidFill>
              <a:srgbClr val="34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0164" y="4227201"/>
            <a:ext cx="3540008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i="0" dirty="0">
                <a:solidFill>
                  <a:srgbClr val="F8FAF8"/>
                </a:solidFill>
                <a:latin typeface="+mj-lt"/>
              </a:rPr>
              <a:t>LET’S BUILD THE 10K
BENGALURU WILL TALK ABOUT.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06385"/>
            <a:ext cx="574926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 i="0">
                <a:solidFill>
                  <a:srgbClr val="ABB5BE"/>
                </a:solidFill>
                <a:latin typeface="+mj-lt"/>
              </a:rPr>
              <a:t>Seeking strategic brand partners for the 2027 edition.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464040" y="1051541"/>
            <a:ext cx="1645920" cy="4572000"/>
          </a:xfrm>
          <a:prstGeom prst="line">
            <a:avLst/>
          </a:prstGeom>
          <a:ln w="38100">
            <a:solidFill>
              <a:srgbClr val="A0DC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21351" y="4567734"/>
            <a:ext cx="411480" cy="411480"/>
          </a:xfrm>
          <a:prstGeom prst="line">
            <a:avLst/>
          </a:prstGeom>
          <a:ln w="254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059679" y="3653334"/>
            <a:ext cx="411480" cy="411480"/>
          </a:xfrm>
          <a:prstGeom prst="line">
            <a:avLst/>
          </a:prstGeom>
          <a:ln w="254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388863" y="2738933"/>
            <a:ext cx="411479" cy="411481"/>
          </a:xfrm>
          <a:prstGeom prst="line">
            <a:avLst/>
          </a:prstGeom>
          <a:ln w="254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727191" y="1824533"/>
            <a:ext cx="411480" cy="411481"/>
          </a:xfrm>
          <a:prstGeom prst="line">
            <a:avLst/>
          </a:prstGeom>
          <a:ln w="25400">
            <a:solidFill>
              <a:srgbClr val="F8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10793" y="1136526"/>
            <a:ext cx="1689373" cy="13388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 i="0">
                <a:solidFill>
                  <a:srgbClr val="F8FAF8"/>
                </a:solidFill>
                <a:latin typeface="+mj-lt"/>
              </a:rPr>
              <a:t>ONE
WAY
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5847" y="5736297"/>
            <a:ext cx="4484946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>
                <a:solidFill>
                  <a:srgbClr val="A0DC23"/>
                </a:solidFill>
                <a:latin typeface="+mj-lt"/>
              </a:rPr>
              <a:t>10,000 RUNNERS  •  10 KM  •  ONE STRAIGHT COURSE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2" y="6428232"/>
            <a:ext cx="10945368" cy="0"/>
          </a:xfrm>
          <a:prstGeom prst="line">
            <a:avLst/>
          </a:prstGeom>
          <a:ln w="12700">
            <a:solidFill>
              <a:srgbClr val="344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" y="6485102"/>
            <a:ext cx="1861407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 i="0">
                <a:solidFill>
                  <a:srgbClr val="ABB5BE"/>
                </a:solidFill>
                <a:latin typeface="+mj-lt"/>
              </a:rPr>
              <a:t>ONE10K BENGALURU  •  7 MARCH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9901" y="6485102"/>
            <a:ext cx="287259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 i="0" dirty="0">
                <a:solidFill>
                  <a:srgbClr val="ABB5BE"/>
                </a:solidFill>
                <a:latin typeface="+mj-lt"/>
              </a:rPr>
              <a:t>0</a:t>
            </a:r>
            <a:r>
              <a:rPr lang="en-IN" sz="800" b="1" i="0" dirty="0">
                <a:solidFill>
                  <a:srgbClr val="ABB5BE"/>
                </a:solidFill>
                <a:latin typeface="+mj-lt"/>
              </a:rPr>
              <a:t>7</a:t>
            </a:r>
            <a:endParaRPr sz="800" b="1" i="0" dirty="0">
              <a:solidFill>
                <a:srgbClr val="ABB5BE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742</Words>
  <Application>Microsoft Office PowerPoint</Application>
  <PresentationFormat>Widescreen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Manjunath Krishna Reddy</cp:lastModifiedBy>
  <cp:revision>5</cp:revision>
  <dcterms:created xsi:type="dcterms:W3CDTF">2013-01-27T09:14:16Z</dcterms:created>
  <dcterms:modified xsi:type="dcterms:W3CDTF">2026-09-07T14:48:34Z</dcterms:modified>
  <cp:category/>
</cp:coreProperties>
</file>